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352044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101600" rIns="101600"/>
          <a:lstStyle/>
          <a:p>
            <a:pPr algn="ctr">
              <a:defRPr sz="950" b="1">
                <a:solidFill>
                  <a:srgbClr val="065F46"/>
                </a:solidFill>
                <a:latin typeface="Calibri"/>
              </a:defRPr>
            </a:pPr>
            <a:r>
              <a:t>DELIVERABLE F | 5-MINUTE PITCH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91672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43D2B"/>
                </a:solidFill>
                <a:latin typeface="Calibri"/>
              </a:defRPr>
            </a:pPr>
            <a:r>
              <a:t>Predicting Ethiopian Smallholder Crop Yields</a:t>
            </a:r>
          </a:p>
          <a:p>
            <a:pPr>
              <a:spcBef>
                <a:spcPts val="200"/>
              </a:spcBef>
              <a:defRPr sz="1150">
                <a:solidFill>
                  <a:srgbClr val="64748B"/>
                </a:solidFill>
                <a:latin typeface="Calibri"/>
              </a:defRPr>
            </a:pPr>
            <a:r>
              <a:t>Team 11 | Qiyas / IADE Training Program — Addis Ababa University AI Hackathon (Oct 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19088"/>
            <a:ext cx="11091672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55664"/>
            <a:ext cx="777240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Team 11 | Ethiopian Smallholder Crop-Yield Challenge | AAU AI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1512" y="6455664"/>
            <a:ext cx="1828800" cy="32004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>
              <a:defRPr sz="900" b="1">
                <a:solidFill>
                  <a:srgbClr val="143D2B"/>
                </a:solidFill>
                <a:latin typeface="Calibri"/>
              </a:defRPr>
            </a:pPr>
            <a:r>
              <a:t>Slide 1 of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3575304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645920"/>
            <a:ext cx="3575304" cy="54864"/>
          </a:xfrm>
          <a:prstGeom prst="round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719072"/>
            <a:ext cx="3575304" cy="822960"/>
          </a:xfrm>
          <a:prstGeom prst="rect">
            <a:avLst/>
          </a:prstGeom>
          <a:noFill/>
        </p:spPr>
        <p:txBody>
          <a:bodyPr wrap="square" lIns="127000" rIns="127000" tIns="50800" bIns="50800">
            <a:spAutoFit/>
          </a:bodyPr>
          <a:lstStyle/>
          <a:p>
            <a:pPr>
              <a:defRPr sz="2100" b="1">
                <a:solidFill>
                  <a:srgbClr val="15803D"/>
                </a:solidFill>
                <a:latin typeface="Calibri"/>
              </a:defRPr>
            </a:pPr>
            <a:r>
              <a:t>15,090 Plots</a:t>
            </a:r>
          </a:p>
          <a:p>
            <a:pPr>
              <a:spcBef>
                <a:spcPts val="100"/>
              </a:spcBef>
              <a:defRPr sz="1000" b="1">
                <a:solidFill>
                  <a:srgbClr val="0F172A"/>
                </a:solidFill>
                <a:latin typeface="Calibri"/>
              </a:defRPr>
            </a:pPr>
            <a:r>
              <a:t>Master Smallholder Survey Records</a:t>
            </a:r>
          </a:p>
          <a:p>
            <a:pPr>
              <a:spcBef>
                <a:spcPts val="100"/>
              </a:spcBef>
              <a:defRPr sz="850">
                <a:solidFill>
                  <a:srgbClr val="64748B"/>
                </a:solidFill>
                <a:latin typeface="Calibri"/>
              </a:defRPr>
            </a:pPr>
            <a:r>
              <a:t>5 Administrative Regions × 5 Primary Food Security Crops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6824" y="1645920"/>
            <a:ext cx="3575304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06824" y="1645920"/>
            <a:ext cx="3575304" cy="54864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6824" y="1719072"/>
            <a:ext cx="3575304" cy="822960"/>
          </a:xfrm>
          <a:prstGeom prst="rect">
            <a:avLst/>
          </a:prstGeom>
          <a:noFill/>
        </p:spPr>
        <p:txBody>
          <a:bodyPr wrap="square" lIns="127000" rIns="127000" tIns="50800" bIns="50800">
            <a:spAutoFit/>
          </a:bodyPr>
          <a:lstStyle/>
          <a:p>
            <a:pPr>
              <a:defRPr sz="2100" b="1">
                <a:solidFill>
                  <a:srgbClr val="D97706"/>
                </a:solidFill>
                <a:latin typeface="Calibri"/>
              </a:defRPr>
            </a:pPr>
            <a:r>
              <a:t>232 Climate Records</a:t>
            </a:r>
          </a:p>
          <a:p>
            <a:pPr>
              <a:spcBef>
                <a:spcPts val="100"/>
              </a:spcBef>
              <a:defRPr sz="1000" b="1">
                <a:solidFill>
                  <a:srgbClr val="0F172A"/>
                </a:solidFill>
                <a:latin typeface="Calibri"/>
              </a:defRPr>
            </a:pPr>
            <a:r>
              <a:t>Monthly Regional Weather Observations</a:t>
            </a:r>
          </a:p>
          <a:p>
            <a:pPr>
              <a:spcBef>
                <a:spcPts val="100"/>
              </a:spcBef>
              <a:defRPr sz="850">
                <a:solidFill>
                  <a:srgbClr val="64748B"/>
                </a:solidFill>
                <a:latin typeface="Calibri"/>
              </a:defRPr>
            </a:pPr>
            <a:r>
              <a:t>2021–2024 Precipitation, Temperature Regimes &amp; Extreme Heat Days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8" y="1645920"/>
            <a:ext cx="3575304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65008" y="1645920"/>
            <a:ext cx="3575304" cy="54864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65008" y="1719072"/>
            <a:ext cx="3575304" cy="822960"/>
          </a:xfrm>
          <a:prstGeom prst="rect">
            <a:avLst/>
          </a:prstGeom>
          <a:noFill/>
        </p:spPr>
        <p:txBody>
          <a:bodyPr wrap="square" lIns="127000" rIns="127000" tIns="50800" bIns="50800">
            <a:spAutoFit/>
          </a:bodyPr>
          <a:lstStyle/>
          <a:p>
            <a:pPr>
              <a:defRPr sz="2100" b="1">
                <a:solidFill>
                  <a:srgbClr val="0369A1"/>
                </a:solidFill>
                <a:latin typeface="Calibri"/>
              </a:defRPr>
            </a:pPr>
            <a:r>
              <a:t>100 Price Series</a:t>
            </a:r>
          </a:p>
          <a:p>
            <a:pPr>
              <a:spcBef>
                <a:spcPts val="100"/>
              </a:spcBef>
              <a:defRPr sz="1000" b="1">
                <a:solidFill>
                  <a:srgbClr val="0F172A"/>
                </a:solidFill>
                <a:latin typeface="Calibri"/>
              </a:defRPr>
            </a:pPr>
            <a:r>
              <a:t>Regional Commodity Market Benchmarks</a:t>
            </a:r>
          </a:p>
          <a:p>
            <a:pPr>
              <a:spcBef>
                <a:spcPts val="100"/>
              </a:spcBef>
              <a:defRPr sz="850">
                <a:solidFill>
                  <a:srgbClr val="64748B"/>
                </a:solidFill>
                <a:latin typeface="Calibri"/>
              </a:defRPr>
            </a:pPr>
            <a:r>
              <a:t>Birr/Quintal Standards Isolated Exclusively for Post-Hoc Revenue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724912"/>
            <a:ext cx="3575304" cy="3547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834640"/>
            <a:ext cx="3300984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143D2B"/>
                </a:solidFill>
                <a:latin typeface="Calibri"/>
              </a:defRPr>
            </a:pPr>
            <a:r>
              <a:t>1. The Agronomic Challenge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227832"/>
            <a:ext cx="3246120" cy="2953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00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Pre-Harvest Forecast: </a:t>
            </a:r>
            <a:r>
              <a:rPr b="0">
                <a:solidFill>
                  <a:srgbClr val="0F172A"/>
                </a:solidFill>
              </a:rPr>
              <a:t>Accurately predict smallholder crop yield (yield_tons_per_ha) prior to harvest across five agro-ecological zones (Oromia, Amhara, SNNPR, Tigray, Somali).</a:t>
            </a:r>
          </a:p>
          <a:p>
            <a:pPr>
              <a:spcBef>
                <a:spcPts val="600"/>
              </a:spcBef>
              <a:defRPr sz="100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5 Target Crops: </a:t>
            </a:r>
            <a:r>
              <a:rPr b="0">
                <a:solidFill>
                  <a:srgbClr val="0F172A"/>
                </a:solidFill>
              </a:rPr>
              <a:t>Forecasts Teff, Wheat, Maize, Sorghum, and Barley across diverse elevation bands (400m to 3,600m).</a:t>
            </a:r>
          </a:p>
          <a:p>
            <a:pPr>
              <a:spcBef>
                <a:spcPts val="600"/>
              </a:spcBef>
              <a:defRPr sz="100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High Volatility: </a:t>
            </a:r>
            <a:r>
              <a:rPr b="0">
                <a:solidFill>
                  <a:srgbClr val="0F172A"/>
                </a:solidFill>
              </a:rPr>
              <a:t>Extreme seasonal rain anomalies and soil heterogeneity drive up to 4× yield dispersion between highland and lowland plots.</a:t>
            </a:r>
          </a:p>
          <a:p>
            <a:pPr>
              <a:spcBef>
                <a:spcPts val="600"/>
              </a:spcBef>
              <a:defRPr sz="100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End-to-End System: </a:t>
            </a:r>
            <a:r>
              <a:rPr b="0">
                <a:solidFill>
                  <a:srgbClr val="0F172A"/>
                </a:solidFill>
              </a:rPr>
              <a:t>Engineered from raw tri-dataset ingestion into AgriYield™ Pro Enterprise—delivering live decision support across 4 dedicated workspaces.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06824" y="2724912"/>
            <a:ext cx="3575304" cy="3547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43984" y="2834640"/>
            <a:ext cx="3300984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143D2B"/>
                </a:solidFill>
                <a:latin typeface="Calibri"/>
              </a:defRPr>
            </a:pPr>
            <a:r>
              <a:t>2. Tri-Dataset Ecosystem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1416" y="3227832"/>
            <a:ext cx="3246120" cy="2953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00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Plot Surveys (15,090): </a:t>
            </a:r>
            <a:r>
              <a:rPr b="0">
                <a:solidFill>
                  <a:srgbClr val="0F172A"/>
                </a:solidFill>
              </a:rPr>
              <a:t>Granular plot records containing farm size, fertilizer inputs, improved seed usage, elevation, pest flags, and self-reported rain.</a:t>
            </a:r>
          </a:p>
          <a:p>
            <a:pPr>
              <a:spcBef>
                <a:spcPts val="600"/>
              </a:spcBef>
              <a:defRPr sz="100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Climate Stations (232): </a:t>
            </a:r>
            <a:r>
              <a:rPr b="0">
                <a:solidFill>
                  <a:srgbClr val="0F172A"/>
                </a:solidFill>
              </a:rPr>
              <a:t>Monthly weather metrics with messy station codes ('AMH', 'ORO') and duplicate sensor timestamps.</a:t>
            </a:r>
          </a:p>
          <a:p>
            <a:pPr>
              <a:spcBef>
                <a:spcPts val="600"/>
              </a:spcBef>
              <a:defRPr sz="100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Market Prices (100): </a:t>
            </a:r>
            <a:r>
              <a:rPr b="0">
                <a:solidFill>
                  <a:srgbClr val="0F172A"/>
                </a:solidFill>
              </a:rPr>
              <a:t>Farmgate commodity market prices distorted by 100× unit mix-ups (Birr/kg vs. Birr/quintal).</a:t>
            </a:r>
          </a:p>
          <a:p>
            <a:pPr>
              <a:spcBef>
                <a:spcPts val="600"/>
              </a:spcBef>
              <a:defRPr sz="100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Evaluation Set (3,750): </a:t>
            </a:r>
            <a:r>
              <a:rPr b="0">
                <a:solidFill>
                  <a:srgbClr val="0F172A"/>
                </a:solidFill>
              </a:rPr>
              <a:t>Blind leaderboard test set evaluated strictly against ground truth with zero data leakage.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5008" y="2724912"/>
            <a:ext cx="3575304" cy="3547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8" y="2834640"/>
            <a:ext cx="3300984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143D2B"/>
                </a:solidFill>
                <a:latin typeface="Calibri"/>
              </a:defRPr>
            </a:pPr>
            <a:r>
              <a:t>3. Strict Competition Hygiene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227832"/>
            <a:ext cx="3246120" cy="2953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00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Regression Formulation: </a:t>
            </a:r>
            <a:r>
              <a:rPr b="0">
                <a:solidFill>
                  <a:srgbClr val="0F172A"/>
                </a:solidFill>
              </a:rPr>
              <a:t>Continuous supervised regression strictly evaluated on RMSE (primary metric), MAE, and R².</a:t>
            </a:r>
          </a:p>
          <a:p>
            <a:pPr>
              <a:spcBef>
                <a:spcPts val="600"/>
              </a:spcBef>
              <a:defRPr sz="100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Zero Leakage (Rule 6): </a:t>
            </a:r>
            <a:r>
              <a:rPr b="0">
                <a:solidFill>
                  <a:srgbClr val="0F172A"/>
                </a:solidFill>
              </a:rPr>
              <a:t>Imputations, encoders, and scalers fitted strictly on training subsets; zero test data peeked.</a:t>
            </a:r>
          </a:p>
          <a:p>
            <a:pPr>
              <a:spcBef>
                <a:spcPts val="600"/>
              </a:spcBef>
              <a:defRPr sz="100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Price Isolation (Rule 5): </a:t>
            </a:r>
            <a:r>
              <a:rPr b="0">
                <a:solidFill>
                  <a:srgbClr val="0F172A"/>
                </a:solidFill>
              </a:rPr>
              <a:t>Market prices completely excluded from feature engineering; used strictly for downstream farmer revenue analysis.</a:t>
            </a:r>
          </a:p>
          <a:p>
            <a:pPr>
              <a:spcBef>
                <a:spcPts val="600"/>
              </a:spcBef>
              <a:defRPr sz="100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Weather Integration: </a:t>
            </a:r>
            <a:r>
              <a:rPr b="0">
                <a:solidFill>
                  <a:srgbClr val="0F172A"/>
                </a:solidFill>
              </a:rPr>
              <a:t>Pre-harvest seasonal climate signals seamlessly aggregated and mandated in final models.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4727448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101600" rIns="101600"/>
          <a:lstStyle/>
          <a:p>
            <a:pPr algn="ctr">
              <a:defRPr sz="950" b="1">
                <a:solidFill>
                  <a:srgbClr val="065F46"/>
                </a:solidFill>
                <a:latin typeface="Calibri"/>
              </a:defRPr>
            </a:pPr>
            <a:r>
              <a:t>DELIVERABLE A | DATA ENGINEERING &amp;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91672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43D2B"/>
                </a:solidFill>
                <a:latin typeface="Calibri"/>
              </a:defRPr>
            </a:pPr>
            <a:r>
              <a:t>Pipeline Architecture: Cleaning &amp; Spatio-Temporal Join</a:t>
            </a:r>
          </a:p>
          <a:p>
            <a:pPr>
              <a:spcBef>
                <a:spcPts val="200"/>
              </a:spcBef>
              <a:defRPr sz="1150">
                <a:solidFill>
                  <a:srgbClr val="64748B"/>
                </a:solidFill>
                <a:latin typeface="Calibri"/>
              </a:defRPr>
            </a:pPr>
            <a:r>
              <a:t>Automated Key Harmonization, 4-Month Dynamic Climate Windows, and Micro-Climate Feature Engineering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19088"/>
            <a:ext cx="11091672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55664"/>
            <a:ext cx="777240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Team 11 | Ethiopian Smallholder Crop-Yield Challenge | AAU AI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1512" y="6455664"/>
            <a:ext cx="1828800" cy="32004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>
              <a:defRPr sz="900" b="1">
                <a:solidFill>
                  <a:srgbClr val="143D2B"/>
                </a:solidFill>
                <a:latin typeface="Calibri"/>
              </a:defRPr>
            </a:pPr>
            <a:r>
              <a:t>Slide 2 of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2633472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645920"/>
            <a:ext cx="2633472" cy="54864"/>
          </a:xfrm>
          <a:prstGeom prst="round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719072"/>
            <a:ext cx="2633472" cy="749808"/>
          </a:xfrm>
          <a:prstGeom prst="rect">
            <a:avLst/>
          </a:prstGeom>
          <a:noFill/>
        </p:spPr>
        <p:txBody>
          <a:bodyPr wrap="square" lIns="127000" rIns="127000" tIns="50800" bIns="50800">
            <a:spAutoFit/>
          </a:bodyPr>
          <a:lstStyle/>
          <a:p>
            <a:pPr>
              <a:defRPr sz="2100" b="1">
                <a:solidFill>
                  <a:srgbClr val="15803D"/>
                </a:solidFill>
                <a:latin typeface="Calibri"/>
              </a:defRPr>
            </a:pPr>
            <a:r>
              <a:t>100.0%</a:t>
            </a:r>
          </a:p>
          <a:p>
            <a:pPr>
              <a:spcBef>
                <a:spcPts val="100"/>
              </a:spcBef>
              <a:defRPr sz="1000" b="1">
                <a:solidFill>
                  <a:srgbClr val="0F172A"/>
                </a:solidFill>
                <a:latin typeface="Calibri"/>
              </a:defRPr>
            </a:pPr>
            <a:r>
              <a:t>Plot → Weather Match Rate</a:t>
            </a:r>
          </a:p>
          <a:p>
            <a:pPr>
              <a:spcBef>
                <a:spcPts val="100"/>
              </a:spcBef>
              <a:defRPr sz="850">
                <a:solidFill>
                  <a:srgbClr val="64748B"/>
                </a:solidFill>
                <a:latin typeface="Calibri"/>
              </a:defRPr>
            </a:pPr>
            <a:r>
              <a:t>0 Unmatched Plots (N:1 Join)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4992" y="1645920"/>
            <a:ext cx="2633472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64992" y="1645920"/>
            <a:ext cx="2633472" cy="54864"/>
          </a:xfrm>
          <a:prstGeom prst="round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64992" y="1719072"/>
            <a:ext cx="2633472" cy="749808"/>
          </a:xfrm>
          <a:prstGeom prst="rect">
            <a:avLst/>
          </a:prstGeom>
          <a:noFill/>
        </p:spPr>
        <p:txBody>
          <a:bodyPr wrap="square" lIns="127000" rIns="127000" tIns="50800" bIns="50800">
            <a:spAutoFit/>
          </a:bodyPr>
          <a:lstStyle/>
          <a:p>
            <a:pPr>
              <a:defRPr sz="2100" b="1">
                <a:solidFill>
                  <a:srgbClr val="15803D"/>
                </a:solidFill>
                <a:latin typeface="Calibri"/>
              </a:defRPr>
            </a:pPr>
            <a:r>
              <a:t>100.0%</a:t>
            </a:r>
          </a:p>
          <a:p>
            <a:pPr>
              <a:spcBef>
                <a:spcPts val="100"/>
              </a:spcBef>
              <a:defRPr sz="1000" b="1">
                <a:solidFill>
                  <a:srgbClr val="0F172A"/>
                </a:solidFill>
                <a:latin typeface="Calibri"/>
              </a:defRPr>
            </a:pPr>
            <a:r>
              <a:t>Plot → Price Match Rate</a:t>
            </a:r>
          </a:p>
          <a:p>
            <a:pPr>
              <a:spcBef>
                <a:spcPts val="100"/>
              </a:spcBef>
              <a:defRPr sz="850">
                <a:solidFill>
                  <a:srgbClr val="64748B"/>
                </a:solidFill>
                <a:latin typeface="Calibri"/>
              </a:defRPr>
            </a:pPr>
            <a:r>
              <a:t>15,090 / 15,090 Plots Aligned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645920"/>
            <a:ext cx="2633472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81344" y="1645920"/>
            <a:ext cx="2633472" cy="54864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1719072"/>
            <a:ext cx="2633472" cy="749808"/>
          </a:xfrm>
          <a:prstGeom prst="rect">
            <a:avLst/>
          </a:prstGeom>
          <a:noFill/>
        </p:spPr>
        <p:txBody>
          <a:bodyPr wrap="square" lIns="127000" rIns="127000" tIns="50800" bIns="50800">
            <a:spAutoFit/>
          </a:bodyPr>
          <a:lstStyle/>
          <a:p>
            <a:pPr>
              <a:defRPr sz="2100" b="1">
                <a:solidFill>
                  <a:srgbClr val="D97706"/>
                </a:solidFill>
                <a:latin typeface="Calibri"/>
              </a:defRPr>
            </a:pPr>
            <a:r>
              <a:t>4-Month</a:t>
            </a:r>
          </a:p>
          <a:p>
            <a:pPr>
              <a:spcBef>
                <a:spcPts val="100"/>
              </a:spcBef>
              <a:defRPr sz="1000" b="1">
                <a:solidFill>
                  <a:srgbClr val="0F172A"/>
                </a:solidFill>
                <a:latin typeface="Calibri"/>
              </a:defRPr>
            </a:pPr>
            <a:r>
              <a:t>Growing Season Climate Window</a:t>
            </a:r>
          </a:p>
          <a:p>
            <a:pPr>
              <a:spcBef>
                <a:spcPts val="100"/>
              </a:spcBef>
              <a:defRPr sz="850">
                <a:solidFill>
                  <a:srgbClr val="64748B"/>
                </a:solidFill>
                <a:latin typeface="Calibri"/>
              </a:defRPr>
            </a:pPr>
            <a:r>
              <a:t>[Planting Month + 3 Subsequent]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97696" y="1645920"/>
            <a:ext cx="2633472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97696" y="1645920"/>
            <a:ext cx="2633472" cy="54864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7696" y="1719072"/>
            <a:ext cx="2633472" cy="749808"/>
          </a:xfrm>
          <a:prstGeom prst="rect">
            <a:avLst/>
          </a:prstGeom>
          <a:noFill/>
        </p:spPr>
        <p:txBody>
          <a:bodyPr wrap="square" lIns="127000" rIns="127000" tIns="50800" bIns="50800">
            <a:spAutoFit/>
          </a:bodyPr>
          <a:lstStyle/>
          <a:p>
            <a:pPr>
              <a:defRPr sz="2100" b="1">
                <a:solidFill>
                  <a:srgbClr val="0369A1"/>
                </a:solidFill>
                <a:latin typeface="Calibri"/>
              </a:defRPr>
            </a:pPr>
            <a:r>
              <a:t>0 Rows Lost</a:t>
            </a:r>
          </a:p>
          <a:p>
            <a:pPr>
              <a:spcBef>
                <a:spcPts val="100"/>
              </a:spcBef>
              <a:defRPr sz="1000" b="1">
                <a:solidFill>
                  <a:srgbClr val="0F172A"/>
                </a:solidFill>
                <a:latin typeface="Calibri"/>
              </a:defRPr>
            </a:pPr>
            <a:r>
              <a:t>Zero Cartesian Row Explosion</a:t>
            </a:r>
          </a:p>
          <a:p>
            <a:pPr>
              <a:spcBef>
                <a:spcPts val="100"/>
              </a:spcBef>
              <a:defRPr sz="850">
                <a:solidFill>
                  <a:srgbClr val="64748B"/>
                </a:solidFill>
                <a:latin typeface="Calibri"/>
              </a:defRPr>
            </a:pPr>
            <a:r>
              <a:t>15,090 Train | 3,750 Test Plots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651760"/>
            <a:ext cx="5440680" cy="3621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761488"/>
            <a:ext cx="51663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143D2B"/>
                </a:solidFill>
                <a:latin typeface="Calibri"/>
              </a:defRPr>
            </a:pPr>
            <a:r>
              <a:t>1. Automated Data Cleaning &amp; Hygiene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154680"/>
            <a:ext cx="5074920" cy="302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00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Key Harmonization (100% Match): </a:t>
            </a:r>
            <a:r>
              <a:rPr b="0">
                <a:solidFill>
                  <a:srgbClr val="0F172A"/>
                </a:solidFill>
              </a:rPr>
              <a:t>Normalized 20 dirty region codes ('AMH', 'Amhara ', 'ORO') and 21 crop spelling variants ('Tef', ' teff ') to canonical sets ('Amhara', 'Oromia', 'SNNPR', 'Somali', 'Tigray' and 'teff', 'wheat', 'maize', 'sorghum', 'barley').</a:t>
            </a:r>
          </a:p>
          <a:p>
            <a:pPr>
              <a:spcBef>
                <a:spcPts val="700"/>
              </a:spcBef>
              <a:defRPr sz="100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Sentinel Value Remediation: </a:t>
            </a:r>
            <a:r>
              <a:rPr b="0">
                <a:solidFill>
                  <a:srgbClr val="0F172A"/>
                </a:solidFill>
              </a:rPr>
              <a:t>Replaced corrupt -999 sentinels (788 records) in pest_disease_flag (mode=0) and labor_days_per_ha (median=45.04) to prevent severe gradient loss distortion.</a:t>
            </a:r>
          </a:p>
          <a:p>
            <a:pPr>
              <a:spcBef>
                <a:spcPts val="700"/>
              </a:spcBef>
              <a:defRPr sz="100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Price Unit Scaling (100× Fix): </a:t>
            </a:r>
            <a:r>
              <a:rPr b="0">
                <a:solidFill>
                  <a:srgbClr val="0F172A"/>
                </a:solidFill>
              </a:rPr>
              <a:t>Identified 4 market price rows recorded in Birr/kg (&lt;500 Birr) and multiplied by 100 to restore standard Birr/quintal (3,400–4,900 Birr/qt).</a:t>
            </a:r>
          </a:p>
          <a:p>
            <a:pPr>
              <a:spcBef>
                <a:spcPts val="700"/>
              </a:spcBef>
              <a:defRPr sz="100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Outlier Capping &amp; Deduplication: </a:t>
            </a:r>
            <a:r>
              <a:rPr b="0">
                <a:solidFill>
                  <a:srgbClr val="0F172A"/>
                </a:solidFill>
              </a:rPr>
              <a:t>Capped inputs at 99.5th percentile using training statistics only (Rule 6). Purged 6 duplicate monthly station climate pairs.</a:t>
            </a:r>
          </a:p>
          <a:p>
            <a:pPr>
              <a:spcBef>
                <a:spcPts val="700"/>
              </a:spcBef>
              <a:defRPr sz="100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Verified Deliverables: </a:t>
            </a:r>
            <a:r>
              <a:rPr b="0">
                <a:solidFill>
                  <a:srgbClr val="0F172A"/>
                </a:solidFill>
              </a:rPr>
              <a:t>Exported master_train.csv (15,090 × 26) and master_test.csv (3,750 × 25) with documented data_dictionary_master.csv.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2651760"/>
            <a:ext cx="5468112" cy="3621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761488"/>
            <a:ext cx="5193792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143D2B"/>
                </a:solidFill>
                <a:latin typeface="Calibri"/>
              </a:defRPr>
            </a:pPr>
            <a:r>
              <a:t>2. Dynamic Spatio-Temporal Climate Join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154680"/>
            <a:ext cx="5102352" cy="302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00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Agronomic Window Definition: </a:t>
            </a:r>
            <a:r>
              <a:rPr b="0">
                <a:solidFill>
                  <a:srgbClr val="0F172A"/>
                </a:solidFill>
              </a:rPr>
              <a:t>Rather than static annual means, aggregated monthly climate metrics dynamically across [planting_month, planting_month + 3] (4-month growing season) per region and year, accurately capturing Belg &amp; Meher cycles.</a:t>
            </a:r>
          </a:p>
          <a:p>
            <a:pPr>
              <a:spcBef>
                <a:spcPts val="700"/>
              </a:spcBef>
              <a:defRPr sz="100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High Data Coverage: </a:t>
            </a:r>
            <a:r>
              <a:rPr b="0">
                <a:solidFill>
                  <a:srgbClr val="0F172A"/>
                </a:solidFill>
              </a:rPr>
              <a:t>80.1% of plots have all 4 complete monthly records; 16.9% have 3 months. Zero plots have &lt;2 months.</a:t>
            </a:r>
          </a:p>
          <a:p>
            <a:pPr>
              <a:spcBef>
                <a:spcPts val="700"/>
              </a:spcBef>
              <a:defRPr sz="100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weather_season_mean_temp &amp; heat_days: </a:t>
            </a:r>
            <a:r>
              <a:rPr b="0">
                <a:solidFill>
                  <a:srgbClr val="0F172A"/>
                </a:solidFill>
              </a:rPr>
              <a:t>Measures average thermal regime and cumulative extreme heat stress days (&gt;32°C) during critical flowering and grain-filling stages.</a:t>
            </a:r>
          </a:p>
          <a:p>
            <a:pPr>
              <a:spcBef>
                <a:spcPts val="700"/>
              </a:spcBef>
              <a:defRPr sz="100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weather_temp_anomaly_c: </a:t>
            </a:r>
            <a:r>
              <a:rPr b="0">
                <a:solidFill>
                  <a:srgbClr val="0F172A"/>
                </a:solidFill>
              </a:rPr>
              <a:t>Quantifies deviation from 4-year regional baseline, pinpointing localized warming shocks.</a:t>
            </a:r>
          </a:p>
          <a:p>
            <a:pPr>
              <a:spcBef>
                <a:spcPts val="700"/>
              </a:spcBef>
              <a:defRPr sz="100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weather_rain_discrepancy_ratio: </a:t>
            </a:r>
            <a:r>
              <a:rPr b="0">
                <a:solidFill>
                  <a:srgbClr val="0F172A"/>
                </a:solidFill>
              </a:rPr>
              <a:t>Calculates ratio between plot self-reported rainfall and station gauges, effectively capturing highland topographic microclimates.</a:t>
            </a:r>
          </a:p>
          <a:p>
            <a:pPr>
              <a:spcBef>
                <a:spcPts val="700"/>
              </a:spcBef>
              <a:defRPr sz="100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altitude_temp_index: </a:t>
            </a:r>
            <a:r>
              <a:rPr b="0">
                <a:solidFill>
                  <a:srgbClr val="0F172A"/>
                </a:solidFill>
              </a:rPr>
              <a:t>Models adiabatic lapse cooling rate across rugged agricultural elevations.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5330952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101600" rIns="101600"/>
          <a:lstStyle/>
          <a:p>
            <a:pPr algn="ctr">
              <a:defRPr sz="950" b="1">
                <a:solidFill>
                  <a:srgbClr val="065F46"/>
                </a:solidFill>
                <a:latin typeface="Calibri"/>
              </a:defRPr>
            </a:pPr>
            <a:r>
              <a:t>DELIVERABLES B &amp; C | STATISTICAL &amp; AGRONOMIC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91672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43D2B"/>
                </a:solidFill>
                <a:latin typeface="Calibri"/>
              </a:defRPr>
            </a:pPr>
            <a:r>
              <a:t>Key Insights: Market Value Disconnect &amp; Agronomic Limits</a:t>
            </a:r>
          </a:p>
          <a:p>
            <a:pPr>
              <a:spcBef>
                <a:spcPts val="200"/>
              </a:spcBef>
              <a:defRPr sz="1150">
                <a:solidFill>
                  <a:srgbClr val="64748B"/>
                </a:solidFill>
                <a:latin typeface="Calibri"/>
              </a:defRPr>
            </a:pPr>
            <a:r>
              <a:t>The Yield vs. Revenue Paradox, Input Response Ceilings, and Spatial Agro-Ecological Divergence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19088"/>
            <a:ext cx="11091672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55664"/>
            <a:ext cx="777240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Team 11 | Ethiopian Smallholder Crop-Yield Challenge | AAU AI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1512" y="6455664"/>
            <a:ext cx="1828800" cy="32004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>
              <a:defRPr sz="900" b="1">
                <a:solidFill>
                  <a:srgbClr val="143D2B"/>
                </a:solidFill>
                <a:latin typeface="Calibri"/>
              </a:defRPr>
            </a:pPr>
            <a:r>
              <a:t>Slide 3 of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5029200" cy="2267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09_revenue_by_crop_reg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19072"/>
            <a:ext cx="4809744" cy="212140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48640" y="4005072"/>
            <a:ext cx="5029200" cy="2267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08_price_tre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078224"/>
            <a:ext cx="4809744" cy="212140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760720" y="1645920"/>
            <a:ext cx="5879592" cy="46268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97880" y="1755648"/>
            <a:ext cx="5605272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143D2B"/>
                </a:solidFill>
                <a:latin typeface="Calibri"/>
              </a:defRPr>
            </a:pPr>
            <a:r>
              <a:t>Empirical Agronomic &amp; Market Discoveries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148840"/>
            <a:ext cx="5513832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98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Finding 1: The Yield vs. Revenue Paradox (Economic Inversion): </a:t>
            </a:r>
            <a:r>
              <a:rPr b="0">
                <a:solidFill>
                  <a:srgbClr val="0F172A"/>
                </a:solidFill>
              </a:rPr>
              <a:t>Maize achieves the highest physical yield (mean 3.90 t/ha, peaking at 4.80 t/ha in SNNPR), but Teff generates the highest gross revenue per hectare (152,301 Birr/ha vs. 114,336 Birr/ha for Maize).
• Agronomic Driver: Teff commands a 2.6× market price premium (7,652 vs. 2,927 Birr/quintal) due to cultural staple status and inelastic urban demand, proving smallholders rationally prioritize financial return over biological tonnage.
• Direct UI Integration: AgriYield™ Pro connects directly to live regional quintal benchmarks and translates farm hectares into local Ethiopian units (1 ha ≈ 4 Timad) with automated P&amp;L cash-flow calculations.</a:t>
            </a:r>
          </a:p>
          <a:p>
            <a:pPr>
              <a:spcBef>
                <a:spcPts val="700"/>
              </a:spcBef>
              <a:defRPr sz="98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Finding 2: Input Elasticity &amp; Biological Ceilings: </a:t>
            </a:r>
            <a:r>
              <a:rPr b="0">
                <a:solidFill>
                  <a:srgbClr val="0F172A"/>
                </a:solidFill>
              </a:rPr>
              <a:t>Fertilizer Diminishing Returns: Mean yield rises monotonically from Q1 (2.44 t/ha) to Q4 (3.09 t/ha), but marginal response flattens; Teff plateaus beyond Q2 (2.01 t/ha) as excess nitrogen triggers stem lodging rather than grain yield.
• Improved Seed Lift: Certified seeds deliver a consistent +18.3% to +22.8% yield lift across all five crops (Maize: +0.783 t/ha; Teff: +0.419 t/ha).
• Pest &amp; Disease Penalties: Biotic pressure inflicts -26% to -29% yield losses, hitting Maize hardest (-28.8% loss, -1.20 t/ha penalty) due to voracious defoliators like Fall Armyworm.</a:t>
            </a:r>
          </a:p>
          <a:p>
            <a:pPr>
              <a:spcBef>
                <a:spcPts val="700"/>
              </a:spcBef>
              <a:defRPr sz="98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Finding 3: Agro-Ecological Divergence &amp; Thermal Regimes: </a:t>
            </a:r>
            <a:r>
              <a:rPr b="0">
                <a:solidFill>
                  <a:srgbClr val="0F172A"/>
                </a:solidFill>
              </a:rPr>
              <a:t>Highland zones in Tigray (3.13 t/ha) and Amhara (3.13 t/ha) lead national productivity, whereas pastoral Somali severely lags (1.46 t/ha; Somali × Teff: 0.83 t/ha) due to extreme thermal stress (&gt;30°C) and acute moisture deficits.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4727448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101600" rIns="101600"/>
          <a:lstStyle/>
          <a:p>
            <a:pPr algn="ctr">
              <a:defRPr sz="950" b="1">
                <a:solidFill>
                  <a:srgbClr val="065F46"/>
                </a:solidFill>
                <a:latin typeface="Calibri"/>
              </a:defRPr>
            </a:pPr>
            <a:r>
              <a:t>DELIVERABLE D | MACHINE LEARNING &amp; BENCHMARKING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91672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43D2B"/>
                </a:solidFill>
                <a:latin typeface="Calibri"/>
              </a:defRPr>
            </a:pPr>
            <a:r>
              <a:t>Predictive Modeling &amp; Empirical Validation</a:t>
            </a:r>
          </a:p>
          <a:p>
            <a:pPr>
              <a:spcBef>
                <a:spcPts val="200"/>
              </a:spcBef>
              <a:defRPr sz="1150">
                <a:solidFill>
                  <a:srgbClr val="64748B"/>
                </a:solidFill>
                <a:latin typeface="Calibri"/>
              </a:defRPr>
            </a:pPr>
            <a:r>
              <a:t>Model Progression, 5-Fold Cross-Validation, Tri-Ensemble Blend, and Weather Ablation Study (Rule 5)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19088"/>
            <a:ext cx="11091672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55664"/>
            <a:ext cx="777240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Team 11 | Ethiopian Smallholder Crop-Yield Challenge | AAU AI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1512" y="6455664"/>
            <a:ext cx="1828800" cy="32004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>
              <a:defRPr sz="900" b="1">
                <a:solidFill>
                  <a:srgbClr val="143D2B"/>
                </a:solidFill>
                <a:latin typeface="Calibri"/>
              </a:defRPr>
            </a:pPr>
            <a:r>
              <a:t>Slide 4 of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2633472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645920"/>
            <a:ext cx="2633472" cy="54864"/>
          </a:xfrm>
          <a:prstGeom prst="round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719072"/>
            <a:ext cx="2633472" cy="749808"/>
          </a:xfrm>
          <a:prstGeom prst="rect">
            <a:avLst/>
          </a:prstGeom>
          <a:noFill/>
        </p:spPr>
        <p:txBody>
          <a:bodyPr wrap="square" lIns="127000" rIns="127000" tIns="50800" bIns="50800">
            <a:spAutoFit/>
          </a:bodyPr>
          <a:lstStyle/>
          <a:p>
            <a:pPr>
              <a:defRPr sz="2100" b="1">
                <a:solidFill>
                  <a:srgbClr val="15803D"/>
                </a:solidFill>
                <a:latin typeface="Calibri"/>
              </a:defRPr>
            </a:pPr>
            <a:r>
              <a:t>0.4601 t/ha</a:t>
            </a:r>
          </a:p>
          <a:p>
            <a:pPr>
              <a:spcBef>
                <a:spcPts val="100"/>
              </a:spcBef>
              <a:defRPr sz="1000" b="1">
                <a:solidFill>
                  <a:srgbClr val="0F172A"/>
                </a:solidFill>
                <a:latin typeface="Calibri"/>
              </a:defRPr>
            </a:pPr>
            <a:r>
              <a:t>Tri-Ensemble 5-Fold CV RMSE</a:t>
            </a:r>
          </a:p>
          <a:p>
            <a:pPr>
              <a:spcBef>
                <a:spcPts val="100"/>
              </a:spcBef>
              <a:defRPr sz="850">
                <a:solidFill>
                  <a:srgbClr val="64748B"/>
                </a:solidFill>
                <a:latin typeface="Calibri"/>
              </a:defRPr>
            </a:pPr>
            <a:r>
              <a:t>HistGB + LGBM + XGBoost Blend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4992" y="1645920"/>
            <a:ext cx="2633472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64992" y="1645920"/>
            <a:ext cx="2633472" cy="54864"/>
          </a:xfrm>
          <a:prstGeom prst="round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64992" y="1719072"/>
            <a:ext cx="2633472" cy="749808"/>
          </a:xfrm>
          <a:prstGeom prst="rect">
            <a:avLst/>
          </a:prstGeom>
          <a:noFill/>
        </p:spPr>
        <p:txBody>
          <a:bodyPr wrap="square" lIns="127000" rIns="127000" tIns="50800" bIns="50800">
            <a:spAutoFit/>
          </a:bodyPr>
          <a:lstStyle/>
          <a:p>
            <a:pPr>
              <a:defRPr sz="2100" b="1">
                <a:solidFill>
                  <a:srgbClr val="15803D"/>
                </a:solidFill>
                <a:latin typeface="Calibri"/>
              </a:defRPr>
            </a:pPr>
            <a:r>
              <a:t>0.906</a:t>
            </a:r>
          </a:p>
          <a:p>
            <a:pPr>
              <a:spcBef>
                <a:spcPts val="100"/>
              </a:spcBef>
              <a:defRPr sz="1000" b="1">
                <a:solidFill>
                  <a:srgbClr val="0F172A"/>
                </a:solidFill>
                <a:latin typeface="Calibri"/>
              </a:defRPr>
            </a:pPr>
            <a:r>
              <a:t>Tri-Ensemble R² Score</a:t>
            </a:r>
          </a:p>
          <a:p>
            <a:pPr>
              <a:spcBef>
                <a:spcPts val="100"/>
              </a:spcBef>
              <a:defRPr sz="850">
                <a:solidFill>
                  <a:srgbClr val="64748B"/>
                </a:solidFill>
                <a:latin typeface="Calibri"/>
              </a:defRPr>
            </a:pPr>
            <a:r>
              <a:t>Explains 90.6% of Yield Variance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645920"/>
            <a:ext cx="2633472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81344" y="1645920"/>
            <a:ext cx="2633472" cy="54864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1719072"/>
            <a:ext cx="2633472" cy="749808"/>
          </a:xfrm>
          <a:prstGeom prst="rect">
            <a:avLst/>
          </a:prstGeom>
          <a:noFill/>
        </p:spPr>
        <p:txBody>
          <a:bodyPr wrap="square" lIns="127000" rIns="127000" tIns="50800" bIns="50800">
            <a:spAutoFit/>
          </a:bodyPr>
          <a:lstStyle/>
          <a:p>
            <a:pPr>
              <a:defRPr sz="2100" b="1">
                <a:solidFill>
                  <a:srgbClr val="D97706"/>
                </a:solidFill>
                <a:latin typeface="Calibri"/>
              </a:defRPr>
            </a:pPr>
            <a:r>
              <a:t>-70.9%</a:t>
            </a:r>
          </a:p>
          <a:p>
            <a:pPr>
              <a:spcBef>
                <a:spcPts val="100"/>
              </a:spcBef>
              <a:defRPr sz="1000" b="1">
                <a:solidFill>
                  <a:srgbClr val="0F172A"/>
                </a:solidFill>
                <a:latin typeface="Calibri"/>
              </a:defRPr>
            </a:pPr>
            <a:r>
              <a:t>Error Reduction vs. Baseline</a:t>
            </a:r>
          </a:p>
          <a:p>
            <a:pPr>
              <a:spcBef>
                <a:spcPts val="100"/>
              </a:spcBef>
              <a:defRPr sz="850">
                <a:solidFill>
                  <a:srgbClr val="64748B"/>
                </a:solidFill>
                <a:latin typeface="Calibri"/>
              </a:defRPr>
            </a:pPr>
            <a:r>
              <a:t>Baseline 1.401 → Tuned 0.408 t/ha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97696" y="1645920"/>
            <a:ext cx="2633472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97696" y="1645920"/>
            <a:ext cx="2633472" cy="54864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7696" y="1719072"/>
            <a:ext cx="2633472" cy="749808"/>
          </a:xfrm>
          <a:prstGeom prst="rect">
            <a:avLst/>
          </a:prstGeom>
          <a:noFill/>
        </p:spPr>
        <p:txBody>
          <a:bodyPr wrap="square" lIns="127000" rIns="127000" tIns="50800" bIns="50800">
            <a:spAutoFit/>
          </a:bodyPr>
          <a:lstStyle/>
          <a:p>
            <a:pPr>
              <a:defRPr sz="2100" b="1">
                <a:solidFill>
                  <a:srgbClr val="0369A1"/>
                </a:solidFill>
                <a:latin typeface="Calibri"/>
              </a:defRPr>
            </a:pPr>
            <a:r>
              <a:t>+14.77%</a:t>
            </a:r>
          </a:p>
          <a:p>
            <a:pPr>
              <a:spcBef>
                <a:spcPts val="100"/>
              </a:spcBef>
              <a:defRPr sz="1000" b="1">
                <a:solidFill>
                  <a:srgbClr val="0F172A"/>
                </a:solidFill>
                <a:latin typeface="Calibri"/>
              </a:defRPr>
            </a:pPr>
            <a:r>
              <a:t>Ablation Error Spike (No Weather)</a:t>
            </a:r>
          </a:p>
          <a:p>
            <a:pPr>
              <a:spcBef>
                <a:spcPts val="100"/>
              </a:spcBef>
              <a:defRPr sz="850">
                <a:solidFill>
                  <a:srgbClr val="64748B"/>
                </a:solidFill>
                <a:latin typeface="Calibri"/>
              </a:defRPr>
            </a:pPr>
            <a:r>
              <a:t>Validates Rule 5 Weather Signal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651760"/>
            <a:ext cx="5440680" cy="3621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761488"/>
            <a:ext cx="51663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143D2B"/>
                </a:solidFill>
                <a:latin typeface="Calibri"/>
              </a:defRPr>
            </a:pPr>
            <a:r>
              <a:t>1. Architecture Benchmarks Progression</a:t>
            </a:r>
          </a:p>
        </p:txBody>
      </p:sp>
      <p:pic>
        <p:nvPicPr>
          <p:cNvPr id="22" name="Picture 21" descr="fig10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127248"/>
            <a:ext cx="5074920" cy="171907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31520" y="4892040"/>
            <a:ext cx="50749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95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Dummy Regressor (Mean): </a:t>
            </a:r>
            <a:r>
              <a:rPr b="0">
                <a:solidFill>
                  <a:srgbClr val="0F172A"/>
                </a:solidFill>
              </a:rPr>
              <a:t>5-Fold CV: 1.401 t/ha | Holdout: 1.413 t/ha | R² -0.000 (Predicts global mean 2.768 t/ha).</a:t>
            </a:r>
          </a:p>
          <a:p>
            <a:pPr>
              <a:spcBef>
                <a:spcPts val="300"/>
              </a:spcBef>
              <a:defRPr sz="95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Ridge Regression (Linear): </a:t>
            </a:r>
            <a:r>
              <a:rPr b="0">
                <a:solidFill>
                  <a:srgbClr val="0F172A"/>
                </a:solidFill>
              </a:rPr>
              <a:t>5-Fold CV: 0.785 t/ha | Holdout: 0.895 t/ha | R² 0.599 (Misses non-linear thermal/altitude curves).</a:t>
            </a:r>
          </a:p>
          <a:p>
            <a:pPr>
              <a:spcBef>
                <a:spcPts val="300"/>
              </a:spcBef>
              <a:defRPr sz="95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Random Forest Ensemble: </a:t>
            </a:r>
            <a:r>
              <a:rPr b="0">
                <a:solidFill>
                  <a:srgbClr val="0F172A"/>
                </a:solidFill>
              </a:rPr>
              <a:t>5-Fold CV: 0.448 t/ha | Holdout: 0.588 t/ha | R² 0.827 (Captures non-linear thresholds).</a:t>
            </a:r>
          </a:p>
          <a:p>
            <a:pPr>
              <a:spcBef>
                <a:spcPts val="300"/>
              </a:spcBef>
              <a:defRPr sz="95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Production Tri-Ensemble: </a:t>
            </a:r>
            <a:r>
              <a:rPr b="0">
                <a:solidFill>
                  <a:srgbClr val="0F172A"/>
                </a:solidFill>
              </a:rPr>
              <a:t>5-Fold CV: 0.4601 t/ha | R² 0.906 (Combines HistGB, LightGBM, and XGBoost via VotingRegressor for extra +2.5% accuracy).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651760"/>
            <a:ext cx="5440680" cy="3621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761488"/>
            <a:ext cx="51663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143D2B"/>
                </a:solidFill>
                <a:latin typeface="Calibri"/>
              </a:defRPr>
            </a:pPr>
            <a:r>
              <a:t>2. Feature Importance &amp; Validation Rigor</a:t>
            </a:r>
          </a:p>
        </p:txBody>
      </p:sp>
      <p:pic>
        <p:nvPicPr>
          <p:cNvPr id="26" name="Picture 25" descr="fig12_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127248"/>
            <a:ext cx="5074920" cy="17190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355080" y="4892040"/>
            <a:ext cx="50749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95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Mandatory Weather Ablation (Rule 5): </a:t>
            </a:r>
            <a:r>
              <a:rPr b="0">
                <a:solidFill>
                  <a:srgbClr val="0F172A"/>
                </a:solidFill>
              </a:rPr>
              <a:t>Omitting weather derivations degraded 5-fold CV RMSE from 0.474 to 0.544 t/ha (+14.77% error jump), confirming climate signals provide indispensable predictive power.</a:t>
            </a:r>
          </a:p>
          <a:p>
            <a:pPr>
              <a:spcBef>
                <a:spcPts val="300"/>
              </a:spcBef>
              <a:defRPr sz="95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5-Fold CV Stability: </a:t>
            </a:r>
            <a:r>
              <a:rPr b="0">
                <a:solidFill>
                  <a:srgbClr val="0F172A"/>
                </a:solidFill>
              </a:rPr>
              <a:t>Cross-validation score of 0.4742 ± 0.0113 t/ha demonstrates remarkable variance stability across all 5 regional folds without spatial overfitting.</a:t>
            </a:r>
          </a:p>
          <a:p>
            <a:pPr>
              <a:spcBef>
                <a:spcPts val="300"/>
              </a:spcBef>
              <a:defRPr sz="95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Out-of-Time 2024 Generalization: </a:t>
            </a:r>
            <a:r>
              <a:rPr b="0">
                <a:solidFill>
                  <a:srgbClr val="0F172A"/>
                </a:solidFill>
              </a:rPr>
              <a:t>Trained on 2021–2023 (11,277 plots) and tested on 2024 (3,813 plots) achieved 0.4812 t/ha RMSE (R² = 0.884), proving temporal robustness with zero concept drift.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5632704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101600" rIns="101600"/>
          <a:lstStyle/>
          <a:p>
            <a:pPr algn="ctr">
              <a:defRPr sz="950" b="1">
                <a:solidFill>
                  <a:srgbClr val="065F46"/>
                </a:solidFill>
                <a:latin typeface="Calibri"/>
              </a:defRPr>
            </a:pPr>
            <a:r>
              <a:t>DELIVERABLES E &amp; G | OPERATIONAL UI PLATFORM &amp;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91672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43D2B"/>
                </a:solidFill>
                <a:latin typeface="Calibri"/>
              </a:defRPr>
            </a:pPr>
            <a:r>
              <a:t>Decision Support Platform: Interactive UI &amp; Operational Impact</a:t>
            </a:r>
          </a:p>
          <a:p>
            <a:pPr>
              <a:spcBef>
                <a:spcPts val="200"/>
              </a:spcBef>
              <a:defRPr sz="1150">
                <a:solidFill>
                  <a:srgbClr val="64748B"/>
                </a:solidFill>
                <a:latin typeface="Calibri"/>
              </a:defRPr>
            </a:pPr>
            <a:r>
              <a:t>AgriYield™ Pro Enterprise: Zero-Effort Background Ingestion, Real-Time P&amp;L, and 15-Farm Union Logistics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19088"/>
            <a:ext cx="11091672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55664"/>
            <a:ext cx="777240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Team 11 | Ethiopian Smallholder Crop-Yield Challenge | AAU AI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1512" y="6455664"/>
            <a:ext cx="1828800" cy="32004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>
              <a:defRPr sz="900" b="1">
                <a:solidFill>
                  <a:srgbClr val="143D2B"/>
                </a:solidFill>
                <a:latin typeface="Calibri"/>
              </a:defRPr>
            </a:pPr>
            <a:r>
              <a:t>Slide 5 of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2633472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645920"/>
            <a:ext cx="2633472" cy="54864"/>
          </a:xfrm>
          <a:prstGeom prst="round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719072"/>
            <a:ext cx="2633472" cy="749808"/>
          </a:xfrm>
          <a:prstGeom prst="rect">
            <a:avLst/>
          </a:prstGeom>
          <a:noFill/>
        </p:spPr>
        <p:txBody>
          <a:bodyPr wrap="square" lIns="127000" rIns="127000" tIns="50800" bIns="50800">
            <a:spAutoFit/>
          </a:bodyPr>
          <a:lstStyle/>
          <a:p>
            <a:pPr>
              <a:defRPr sz="2100" b="1">
                <a:solidFill>
                  <a:srgbClr val="15803D"/>
                </a:solidFill>
                <a:latin typeface="Calibri"/>
              </a:defRPr>
            </a:pPr>
            <a:r>
              <a:t>Live Streamlit</a:t>
            </a:r>
          </a:p>
          <a:p>
            <a:pPr>
              <a:spcBef>
                <a:spcPts val="100"/>
              </a:spcBef>
              <a:defRPr sz="1000" b="1">
                <a:solidFill>
                  <a:srgbClr val="0F172A"/>
                </a:solidFill>
                <a:latin typeface="Calibri"/>
              </a:defRPr>
            </a:pPr>
            <a:r>
              <a:t>Production Decision Platform</a:t>
            </a:r>
          </a:p>
          <a:p>
            <a:pPr>
              <a:spcBef>
                <a:spcPts val="100"/>
              </a:spcBef>
              <a:defRPr sz="850">
                <a:solidFill>
                  <a:srgbClr val="64748B"/>
                </a:solidFill>
                <a:latin typeface="Calibri"/>
              </a:defRPr>
            </a:pPr>
            <a:r>
              <a:t>Launch: streamlit run app/app.py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4992" y="1645920"/>
            <a:ext cx="2633472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64992" y="1645920"/>
            <a:ext cx="2633472" cy="54864"/>
          </a:xfrm>
          <a:prstGeom prst="round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64992" y="1719072"/>
            <a:ext cx="2633472" cy="749808"/>
          </a:xfrm>
          <a:prstGeom prst="rect">
            <a:avLst/>
          </a:prstGeom>
          <a:noFill/>
        </p:spPr>
        <p:txBody>
          <a:bodyPr wrap="square" lIns="127000" rIns="127000" tIns="50800" bIns="50800">
            <a:spAutoFit/>
          </a:bodyPr>
          <a:lstStyle/>
          <a:p>
            <a:pPr>
              <a:defRPr sz="2100" b="1">
                <a:solidFill>
                  <a:srgbClr val="15803D"/>
                </a:solidFill>
                <a:latin typeface="Calibri"/>
              </a:defRPr>
            </a:pPr>
            <a:r>
              <a:t>86.9%</a:t>
            </a:r>
          </a:p>
          <a:p>
            <a:pPr>
              <a:spcBef>
                <a:spcPts val="100"/>
              </a:spcBef>
              <a:defRPr sz="1000" b="1">
                <a:solidFill>
                  <a:srgbClr val="0F172A"/>
                </a:solidFill>
                <a:latin typeface="Calibri"/>
              </a:defRPr>
            </a:pPr>
            <a:r>
              <a:t>Food Security Tier Accuracy</a:t>
            </a:r>
          </a:p>
          <a:p>
            <a:pPr>
              <a:spcBef>
                <a:spcPts val="100"/>
              </a:spcBef>
              <a:defRPr sz="850">
                <a:solidFill>
                  <a:srgbClr val="64748B"/>
                </a:solidFill>
                <a:latin typeface="Calibri"/>
              </a:defRPr>
            </a:pPr>
            <a:r>
              <a:t>0.0% Extreme Off-Diagonal Errors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645920"/>
            <a:ext cx="2633472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81344" y="1645920"/>
            <a:ext cx="2633472" cy="54864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1719072"/>
            <a:ext cx="2633472" cy="749808"/>
          </a:xfrm>
          <a:prstGeom prst="rect">
            <a:avLst/>
          </a:prstGeom>
          <a:noFill/>
        </p:spPr>
        <p:txBody>
          <a:bodyPr wrap="square" lIns="127000" rIns="127000" tIns="50800" bIns="50800">
            <a:spAutoFit/>
          </a:bodyPr>
          <a:lstStyle/>
          <a:p>
            <a:pPr>
              <a:defRPr sz="2100" b="1">
                <a:solidFill>
                  <a:srgbClr val="D97706"/>
                </a:solidFill>
                <a:latin typeface="Calibri"/>
              </a:defRPr>
            </a:pPr>
            <a:r>
              <a:t>&lt;300 ms</a:t>
            </a:r>
          </a:p>
          <a:p>
            <a:pPr>
              <a:spcBef>
                <a:spcPts val="100"/>
              </a:spcBef>
              <a:defRPr sz="1000" b="1">
                <a:solidFill>
                  <a:srgbClr val="0F172A"/>
                </a:solidFill>
                <a:latin typeface="Calibri"/>
              </a:defRPr>
            </a:pPr>
            <a:r>
              <a:t>Cached App Inference Latency</a:t>
            </a:r>
          </a:p>
          <a:p>
            <a:pPr>
              <a:spcBef>
                <a:spcPts val="100"/>
              </a:spcBef>
              <a:defRPr sz="850">
                <a:solidFill>
                  <a:srgbClr val="64748B"/>
                </a:solidFill>
                <a:latin typeface="Calibri"/>
              </a:defRPr>
            </a:pPr>
            <a:r>
              <a:t>Zero-Lag Slider Simulation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97696" y="1645920"/>
            <a:ext cx="2633472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97696" y="1645920"/>
            <a:ext cx="2633472" cy="54864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7696" y="1719072"/>
            <a:ext cx="2633472" cy="749808"/>
          </a:xfrm>
          <a:prstGeom prst="rect">
            <a:avLst/>
          </a:prstGeom>
          <a:noFill/>
        </p:spPr>
        <p:txBody>
          <a:bodyPr wrap="square" lIns="127000" rIns="127000" tIns="50800" bIns="50800">
            <a:spAutoFit/>
          </a:bodyPr>
          <a:lstStyle/>
          <a:p>
            <a:pPr>
              <a:defRPr sz="2100" b="1">
                <a:solidFill>
                  <a:srgbClr val="0369A1"/>
                </a:solidFill>
                <a:latin typeface="Calibri"/>
              </a:defRPr>
            </a:pPr>
            <a:r>
              <a:t>4 Workspaces</a:t>
            </a:r>
          </a:p>
          <a:p>
            <a:pPr>
              <a:spcBef>
                <a:spcPts val="100"/>
              </a:spcBef>
              <a:defRPr sz="1000" b="1">
                <a:solidFill>
                  <a:srgbClr val="0F172A"/>
                </a:solidFill>
                <a:latin typeface="Calibri"/>
              </a:defRPr>
            </a:pPr>
            <a:r>
              <a:t>Streamlined User Navigation</a:t>
            </a:r>
          </a:p>
          <a:p>
            <a:pPr>
              <a:spcBef>
                <a:spcPts val="100"/>
              </a:spcBef>
              <a:defRPr sz="850">
                <a:solidFill>
                  <a:srgbClr val="64748B"/>
                </a:solidFill>
                <a:latin typeface="Calibri"/>
              </a:defRPr>
            </a:pPr>
            <a:r>
              <a:t>Farmgate, Union, Radar &amp; Audit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651760"/>
            <a:ext cx="4892040" cy="3621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761488"/>
            <a:ext cx="461772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143D2B"/>
                </a:solidFill>
                <a:latin typeface="Calibri"/>
              </a:defRPr>
            </a:pPr>
            <a:r>
              <a:t>1. Food Security Policy Audit (Figure 13)</a:t>
            </a:r>
          </a:p>
        </p:txBody>
      </p:sp>
      <p:pic>
        <p:nvPicPr>
          <p:cNvPr id="22" name="Picture 21" descr="fig13_yield_tier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3108960"/>
            <a:ext cx="4562856" cy="19202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13232" y="5074920"/>
            <a:ext cx="456285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919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86.9% Stratified Tier Accuracy: </a:t>
            </a:r>
            <a:r>
              <a:rPr b="0">
                <a:solidFill>
                  <a:srgbClr val="0F172A"/>
                </a:solidFill>
              </a:rPr>
              <a:t>13,115 of 15,090 plots fall on the exact diagonal tier (&lt;2.0, 2.0–3.5, &gt;3.5 t/ha).</a:t>
            </a:r>
          </a:p>
          <a:p>
            <a:pPr>
              <a:spcBef>
                <a:spcPts val="300"/>
              </a:spcBef>
              <a:defRPr sz="919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0.0% Extreme Error Rate: </a:t>
            </a:r>
            <a:r>
              <a:rPr b="0">
                <a:solidFill>
                  <a:srgbClr val="0F172A"/>
                </a:solidFill>
              </a:rPr>
              <a:t>Zero subsistence plots misdiagnosed as commercial surplus (0/4,894); zero false alarms.</a:t>
            </a:r>
          </a:p>
          <a:p>
            <a:pPr>
              <a:spcBef>
                <a:spcPts val="300"/>
              </a:spcBef>
              <a:defRPr sz="919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93.9% Subsistence Precision: </a:t>
            </a:r>
            <a:r>
              <a:rPr b="0">
                <a:solidFill>
                  <a:srgbClr val="0F172A"/>
                </a:solidFill>
              </a:rPr>
              <a:t>Dependable trigger for micro-insurance payouts and safety-net grain distribution.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3560" y="2651760"/>
            <a:ext cx="6016752" cy="3621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0720" y="2761488"/>
            <a:ext cx="5742432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143D2B"/>
                </a:solidFill>
                <a:latin typeface="Calibri"/>
              </a:defRPr>
            </a:pPr>
            <a:r>
              <a:t>2. AgriYield™ Pro Capabilities &amp; Live Demo Script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6440" y="3127248"/>
            <a:ext cx="5650992" cy="3072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95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1. Zero-Effort Background Ingestion (Rule 5 Compliant): </a:t>
            </a:r>
            <a:r>
              <a:rPr b="0">
                <a:solidFill>
                  <a:srgbClr val="0F172A"/>
                </a:solidFill>
              </a:rPr>
              <a:t>Farmers enter only agronomic inputs (Region, Crop, Farm Size in ha or Timad, DAP/Urea); seasonal climate variables (rainfall, mean temperature, heat days) and ECX market prices are automatically resolved in the background.</a:t>
            </a:r>
          </a:p>
          <a:p>
            <a:pPr>
              <a:spcBef>
                <a:spcPts val="400"/>
              </a:spcBef>
              <a:defRPr sz="95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2. Real-Time Economic P&amp;L Translation: </a:t>
            </a:r>
            <a:r>
              <a:rPr b="0">
                <a:solidFill>
                  <a:srgbClr val="0F172A"/>
                </a:solidFill>
              </a:rPr>
              <a:t>Converts biological yield (t/ha) into audited household cash flow: Gross Revenue, Fertilizer, Certified Seed, and Net Family Profit in Ethiopian Birr (ETB), demonstrating household economic lift.</a:t>
            </a:r>
          </a:p>
          <a:p>
            <a:pPr>
              <a:spcBef>
                <a:spcPts val="400"/>
              </a:spcBef>
              <a:defRPr sz="95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3. Dynamic 'What-If' Simulation (Dual-Axis Plotly): </a:t>
            </a:r>
            <a:r>
              <a:rPr b="0">
                <a:solidFill>
                  <a:srgbClr val="0F172A"/>
                </a:solidFill>
              </a:rPr>
              <a:t>Interactive slider curves plot harvest bags vs. net profit across fertilizer levels, automatically pinpointing the peak profit inflection point (e.g., 80 kg/ha) to prevent costly nitrogen wastage.</a:t>
            </a:r>
          </a:p>
          <a:p>
            <a:pPr>
              <a:spcBef>
                <a:spcPts val="400"/>
              </a:spcBef>
              <a:defRPr sz="95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4. Cooperative Command Hub (15-Plot Union Fleet): </a:t>
            </a:r>
            <a:r>
              <a:rPr b="0">
                <a:solidFill>
                  <a:srgbClr val="0F172A"/>
                </a:solidFill>
              </a:rPr>
              <a:t>Multi-plot batch processing aggregates union member harvest totals, 100-kg jute bag storage demands, 40-Ton Isuzu freight fleets needed, and bankable collateral Loan-to-Value (LTV) ratios.</a:t>
            </a:r>
          </a:p>
          <a:p>
            <a:pPr>
              <a:spcBef>
                <a:spcPts val="400"/>
              </a:spcBef>
              <a:defRPr sz="950">
                <a:latin typeface="Calibri"/>
              </a:defRPr>
            </a:pPr>
            <a:r>
              <a:rPr b="1">
                <a:solidFill>
                  <a:srgbClr val="15803D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🎯 2-Minute Pitch Live Demo Flow: </a:t>
            </a:r>
            <a:r>
              <a:rPr b="0">
                <a:solidFill>
                  <a:srgbClr val="0F172A"/>
                </a:solidFill>
              </a:rPr>
              <a:t>• Minute 1 (Farmgate Studio): Click 'Arsi Maize (2.5 ha)' preset -&gt; observe auto climate/price resolution -&gt; adjust DAP/Urea slider to show live profit peak.
• Minute 2 (Union Hub &amp; Audit): Switch to Cooperative Hub -&gt; review 15-plot grain totals &amp; truck fleet -&gt; review 86.9% food security tier audit matrix.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